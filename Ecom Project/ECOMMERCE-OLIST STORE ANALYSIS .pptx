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  <p:sldId id="270" r:id="rId12"/>
    <p:sldId id="272" r:id="rId13"/>
    <p:sldId id="273" r:id="rId14"/>
    <p:sldId id="271" r:id="rId15"/>
    <p:sldId id="274" r:id="rId16"/>
    <p:sldId id="275" r:id="rId17"/>
    <p:sldId id="276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893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2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84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43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6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53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61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11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69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24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261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532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6259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488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808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45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1BF27-E993-4D19-9190-5C564840A7E9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8DCA56C-A543-4568-9A2C-DCC24C1D2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16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A710-DD74-946D-4766-47987A6E5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7323" y="1694793"/>
            <a:ext cx="8915399" cy="191551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ECOMMERCE OLIST STORE ANALYSIS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AE4B0-F792-9661-7C23-EF2B7E383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815255"/>
            <a:ext cx="8915399" cy="22229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21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2979-58A4-ACD8-ADF8-2CA03651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345" y="624110"/>
            <a:ext cx="9376267" cy="88938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INTRODUCTION: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E11A3-923B-9ECB-C23E-279295376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345" y="1513489"/>
            <a:ext cx="9376267" cy="48557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Aptos Narrow" panose="020B0004020202020204" pitchFamily="34" charset="0"/>
              </a:rPr>
              <a:t>Domain: E-commerce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Aptos Narrow" panose="020B0004020202020204" pitchFamily="34" charset="0"/>
              </a:rPr>
              <a:t>Project Name: </a:t>
            </a:r>
            <a:r>
              <a:rPr lang="en-IN" sz="3200" dirty="0" err="1">
                <a:latin typeface="Aptos Narrow" panose="020B0004020202020204" pitchFamily="34" charset="0"/>
              </a:rPr>
              <a:t>Olist</a:t>
            </a:r>
            <a:r>
              <a:rPr lang="en-IN" sz="3200" dirty="0">
                <a:latin typeface="Aptos Narrow" panose="020B0004020202020204" pitchFamily="34" charset="0"/>
              </a:rPr>
              <a:t> Store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Aptos Narrow" panose="020B0004020202020204" pitchFamily="34" charset="0"/>
              </a:rPr>
              <a:t>Tools: Excel, Power BI, SQL, Tableau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Aptos Narrow" panose="020B0004020202020204" pitchFamily="34" charset="0"/>
              </a:rPr>
              <a:t>Business Problem: Declining customer retention and unclear sales trends.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Aptos Narrow" panose="020B0004020202020204" pitchFamily="34" charset="0"/>
              </a:rPr>
              <a:t>Goal: Identify sales patterns and customer behavior to improve revenue.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552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A3B1-1023-114D-F90B-51D689F4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173" y="624110"/>
            <a:ext cx="9297440" cy="920911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Arial Black" panose="020B0A04020102020204" pitchFamily="34" charset="0"/>
              </a:rPr>
              <a:t>DATA OVERVIEW: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A55B-F870-4736-82DE-46ED66F42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3034" y="1434662"/>
            <a:ext cx="9869214" cy="49188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 err="1">
                <a:latin typeface="Aptos Narrow" panose="020B0004020202020204" pitchFamily="34" charset="0"/>
              </a:rPr>
              <a:t>Olist</a:t>
            </a:r>
            <a:r>
              <a:rPr lang="en-US" sz="2600" dirty="0">
                <a:latin typeface="Aptos Narrow" panose="020B0004020202020204" pitchFamily="34" charset="0"/>
              </a:rPr>
              <a:t> is a Brazilian e-commerce platform that streamlines the platform between various businesses and vast network of online retailers.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Aptos Narrow" panose="020B0004020202020204" pitchFamily="34" charset="0"/>
              </a:rPr>
              <a:t>The datasets offers a comprehensive view of its operations, including a wide range of information such as orders, products, customer details, seller data and product details.</a:t>
            </a: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Size :~ 30,0000 Rows across all files along with their sheets .</a:t>
            </a:r>
            <a:endParaRPr lang="en-IN" sz="2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</a:rPr>
              <a:t>Key Columns: </a:t>
            </a:r>
            <a:r>
              <a:rPr lang="en-US" sz="2600" dirty="0" err="1">
                <a:latin typeface="Aptos Narrow" panose="020B0004020202020204" pitchFamily="34" charset="0"/>
              </a:rPr>
              <a:t>Order_ID</a:t>
            </a:r>
            <a:r>
              <a:rPr lang="en-US" sz="2600" dirty="0">
                <a:latin typeface="Aptos Narrow" panose="020B0004020202020204" pitchFamily="34" charset="0"/>
              </a:rPr>
              <a:t>, </a:t>
            </a:r>
            <a:r>
              <a:rPr lang="en-US" sz="2600" dirty="0" err="1">
                <a:latin typeface="Aptos Narrow" panose="020B0004020202020204" pitchFamily="34" charset="0"/>
              </a:rPr>
              <a:t>Order_Date</a:t>
            </a:r>
            <a:r>
              <a:rPr lang="en-US" sz="2600" dirty="0">
                <a:latin typeface="Aptos Narrow" panose="020B0004020202020204" pitchFamily="34" charset="0"/>
              </a:rPr>
              <a:t>, </a:t>
            </a:r>
            <a:r>
              <a:rPr lang="en-US" sz="2600" dirty="0" err="1">
                <a:latin typeface="Aptos Narrow" panose="020B0004020202020204" pitchFamily="34" charset="0"/>
              </a:rPr>
              <a:t>Product_Category</a:t>
            </a:r>
            <a:r>
              <a:rPr lang="en-US" sz="2600" dirty="0">
                <a:latin typeface="Aptos Narrow" panose="020B0004020202020204" pitchFamily="34" charset="0"/>
              </a:rPr>
              <a:t>, </a:t>
            </a:r>
            <a:r>
              <a:rPr lang="en-US" sz="2600" dirty="0" err="1">
                <a:latin typeface="Aptos Narrow" panose="020B0004020202020204" pitchFamily="34" charset="0"/>
              </a:rPr>
              <a:t>Payment_value</a:t>
            </a:r>
            <a:r>
              <a:rPr lang="en-US" sz="2600" dirty="0">
                <a:latin typeface="Aptos Narrow" panose="020B0004020202020204" pitchFamily="34" charset="0"/>
              </a:rPr>
              <a:t>, </a:t>
            </a:r>
            <a:r>
              <a:rPr lang="en-US" sz="2600" dirty="0" err="1">
                <a:latin typeface="Aptos Narrow" panose="020B0004020202020204" pitchFamily="34" charset="0"/>
              </a:rPr>
              <a:t>Review_score</a:t>
            </a:r>
            <a:r>
              <a:rPr lang="en-US" sz="2600" dirty="0">
                <a:latin typeface="Aptos Narrow" panose="020B00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Aggregations : Total Orders 99224 , Total Products 112650, Total Customers 99441 and Total Price 13.6M.</a:t>
            </a:r>
            <a:endParaRPr lang="en-US" sz="2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Aptos Narrow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82841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07F6-E3BA-07D9-D03E-269EBD47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629" y="331076"/>
            <a:ext cx="9596984" cy="72521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Arial Black" panose="020B0A04020102020204" pitchFamily="34" charset="0"/>
                <a:cs typeface="Times New Roman" panose="02020603050405020304" pitchFamily="18" charset="0"/>
              </a:rPr>
              <a:t>OBJECTIVES-KPIS: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002CA-CE49-290C-5DBB-27CB80295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13946"/>
            <a:ext cx="10133013" cy="5644054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latin typeface="Aptos Narrow" panose="020B0004020202020204" pitchFamily="34" charset="0"/>
              </a:rPr>
              <a:t>Weekday Vs Weekend (</a:t>
            </a:r>
            <a:r>
              <a:rPr lang="en-IN" sz="9600" dirty="0" err="1">
                <a:latin typeface="Aptos Narrow" panose="020B0004020202020204" pitchFamily="34" charset="0"/>
              </a:rPr>
              <a:t>order_purchase_timestamp</a:t>
            </a:r>
            <a:r>
              <a:rPr lang="en-IN" sz="9600" dirty="0">
                <a:latin typeface="Aptos Narrow" panose="020B0004020202020204" pitchFamily="34" charset="0"/>
              </a:rPr>
              <a:t>) Payment Statistics</a:t>
            </a:r>
          </a:p>
          <a:p>
            <a:pPr marL="0" indent="0">
              <a:buNone/>
            </a:pPr>
            <a:endParaRPr lang="en-IN" sz="9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latin typeface="Aptos Narrow" panose="020B0004020202020204" pitchFamily="34" charset="0"/>
              </a:rPr>
              <a:t>Number of Orders with review score 5 and payment type as credit card.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9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latin typeface="Aptos Narrow" panose="020B0004020202020204" pitchFamily="34" charset="0"/>
              </a:rPr>
              <a:t>Average number of days taken for </a:t>
            </a:r>
            <a:r>
              <a:rPr lang="en-IN" sz="9600" dirty="0" err="1">
                <a:latin typeface="Aptos Narrow" panose="020B0004020202020204" pitchFamily="34" charset="0"/>
              </a:rPr>
              <a:t>order_delivered_customer_date</a:t>
            </a:r>
            <a:r>
              <a:rPr lang="en-IN" sz="9600" dirty="0">
                <a:latin typeface="Aptos Narrow" panose="020B0004020202020204" pitchFamily="34" charset="0"/>
              </a:rPr>
              <a:t> for </a:t>
            </a:r>
            <a:r>
              <a:rPr lang="en-IN" sz="9600" dirty="0" err="1">
                <a:latin typeface="Aptos Narrow" panose="020B0004020202020204" pitchFamily="34" charset="0"/>
              </a:rPr>
              <a:t>pet_shop</a:t>
            </a:r>
            <a:endParaRPr lang="en-IN" sz="9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9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latin typeface="Aptos Narrow" panose="020B0004020202020204" pitchFamily="34" charset="0"/>
              </a:rPr>
              <a:t>Average price and payment values from customers of </a:t>
            </a:r>
            <a:r>
              <a:rPr lang="en-IN" sz="9600" dirty="0" err="1">
                <a:latin typeface="Aptos Narrow" panose="020B0004020202020204" pitchFamily="34" charset="0"/>
              </a:rPr>
              <a:t>sao</a:t>
            </a:r>
            <a:r>
              <a:rPr lang="en-IN" sz="9600" dirty="0">
                <a:latin typeface="Aptos Narrow" panose="020B0004020202020204" pitchFamily="34" charset="0"/>
              </a:rPr>
              <a:t> </a:t>
            </a:r>
            <a:r>
              <a:rPr lang="en-IN" sz="9600" dirty="0" err="1">
                <a:latin typeface="Aptos Narrow" panose="020B0004020202020204" pitchFamily="34" charset="0"/>
              </a:rPr>
              <a:t>paulo</a:t>
            </a:r>
            <a:r>
              <a:rPr lang="en-IN" sz="9600" dirty="0">
                <a:latin typeface="Aptos Narrow" panose="020B0004020202020204" pitchFamily="34" charset="0"/>
              </a:rPr>
              <a:t> city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9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latin typeface="Aptos Narrow" panose="020B0004020202020204" pitchFamily="34" charset="0"/>
              </a:rPr>
              <a:t>Relationship between shipping days (</a:t>
            </a:r>
            <a:r>
              <a:rPr lang="en-IN" sz="9600" dirty="0" err="1">
                <a:latin typeface="Aptos Narrow" panose="020B0004020202020204" pitchFamily="34" charset="0"/>
              </a:rPr>
              <a:t>order_delivered_customer_date</a:t>
            </a:r>
            <a:r>
              <a:rPr lang="en-IN" sz="9600" dirty="0">
                <a:latin typeface="Aptos Narrow" panose="020B0004020202020204" pitchFamily="34" charset="0"/>
              </a:rPr>
              <a:t> - </a:t>
            </a:r>
            <a:r>
              <a:rPr lang="en-IN" sz="9600" dirty="0" err="1">
                <a:latin typeface="Aptos Narrow" panose="020B0004020202020204" pitchFamily="34" charset="0"/>
              </a:rPr>
              <a:t>order_purchase_timestamp</a:t>
            </a:r>
            <a:r>
              <a:rPr lang="en-IN" sz="9600" dirty="0">
                <a:latin typeface="Aptos Narrow" panose="020B0004020202020204" pitchFamily="34" charset="0"/>
              </a:rPr>
              <a:t>) Vs review scores.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9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latin typeface="Aptos Narrow" panose="020B0004020202020204" pitchFamily="34" charset="0"/>
              </a:rPr>
              <a:t>Average shipping day by review Score.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96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latin typeface="Aptos Narrow" panose="020B0004020202020204" pitchFamily="34" charset="0"/>
              </a:rPr>
              <a:t>Top 10 Product Category by Number of Orders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88625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5CB6-20F1-6818-4DFB-2FA38A41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938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PROCESS: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23F1-F78C-008A-D227-355AFE4FF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469" y="1513490"/>
            <a:ext cx="9250143" cy="43977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Data Collections.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Data Cleaning: Replacing Null Values, Deleting Columns, Add columns using VLOOKUP Function.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 Data Transformation: Created new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 Visualization: Power BI, Tableau.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  <a:cs typeface="Times New Roman" panose="02020603050405020304" pitchFamily="18" charset="0"/>
              </a:rPr>
              <a:t> Insight Extraction.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11089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9550AF-C753-8478-DBB0-889A5EB64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828" y="624110"/>
            <a:ext cx="9139783" cy="73172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ANALYSIS: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83D963-C1E2-43C9-3DE9-564E892FBC1D}"/>
              </a:ext>
            </a:extLst>
          </p:cNvPr>
          <p:cNvSpPr/>
          <p:nvPr/>
        </p:nvSpPr>
        <p:spPr>
          <a:xfrm>
            <a:off x="1355834" y="1639613"/>
            <a:ext cx="4319752" cy="241212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8E2F9F-DC6C-0000-0D23-41106B6B67D2}"/>
              </a:ext>
            </a:extLst>
          </p:cNvPr>
          <p:cNvSpPr/>
          <p:nvPr/>
        </p:nvSpPr>
        <p:spPr>
          <a:xfrm>
            <a:off x="7157544" y="4209393"/>
            <a:ext cx="4708636" cy="253299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1824D0-2124-C501-CA6F-76EC61A5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18" y="1705761"/>
            <a:ext cx="4186583" cy="22798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E93FC7-DB59-747D-4F9D-0C7F4B350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728" y="4263059"/>
            <a:ext cx="4608268" cy="2425659"/>
          </a:xfrm>
          <a:prstGeom prst="rect">
            <a:avLst/>
          </a:prstGeom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1C59AFDB-3DE8-A56F-284D-3D508A020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797784"/>
            <a:ext cx="621161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chart shows that 77.22% of purchases occur on weekdays, while only 22.78% happen on weekends. This indicates that customers are significantly more active during weekdays, suggesting a higher engagement with online shopping during workdays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B3BB522F-87A8-B262-0F0B-B1BDF8FA2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968" y="4645858"/>
            <a:ext cx="587239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chart shows 57,328 orders with a 5-star review paid via credit card, indicating strong customer satisfaction with this payment method. It suggests that credit card transactions may contribute to a smoother and more reliable shopping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326551231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3E34-4C4C-0520-B704-7C0D9F32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08" y="630620"/>
            <a:ext cx="9313204" cy="61485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ANALYSIS: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13508-8891-8910-908F-E0C587C5BC61}"/>
              </a:ext>
            </a:extLst>
          </p:cNvPr>
          <p:cNvSpPr/>
          <p:nvPr/>
        </p:nvSpPr>
        <p:spPr>
          <a:xfrm>
            <a:off x="6684578" y="1066773"/>
            <a:ext cx="4820033" cy="254353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0733A-1C2B-96DF-B792-69656D8F69E3}"/>
              </a:ext>
            </a:extLst>
          </p:cNvPr>
          <p:cNvSpPr/>
          <p:nvPr/>
        </p:nvSpPr>
        <p:spPr>
          <a:xfrm>
            <a:off x="1434662" y="4051738"/>
            <a:ext cx="4661338" cy="264860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1F4464-3896-D113-06D8-AF49B0059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644" y="1120584"/>
            <a:ext cx="4703900" cy="24359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B82EF6-168E-A392-F7AA-9A5AF30E3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207" y="4118741"/>
            <a:ext cx="4540248" cy="251459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3A4DBED-5216-32CB-BEE5-4F2C308A8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25" y="1623031"/>
            <a:ext cx="554446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chart shows that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average delivery time for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pet_shop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orders is 1,704 days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, which is unusually high. This likely indicates a data issue or error in date recording that needs to be investigated and corrected.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DEA8F8D-9A79-FD32-ACFC-A96C85B3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270" y="4518469"/>
            <a:ext cx="51353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chart shows that customers in São Paulo paid a total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391.7K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, while the total product price was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339.6K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. This indicates that customers paid significantly more than the listed prices, likely due to additional charges like shipping or fees.</a:t>
            </a:r>
          </a:p>
        </p:txBody>
      </p:sp>
    </p:spTree>
    <p:extLst>
      <p:ext uri="{BB962C8B-B14F-4D97-AF65-F5344CB8AC3E}">
        <p14:creationId xmlns:p14="http://schemas.microsoft.com/office/powerpoint/2010/main" val="248507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8E6A74-551D-9507-0761-F061A1095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048" y="624110"/>
            <a:ext cx="9423563" cy="652897"/>
          </a:xfrm>
        </p:spPr>
        <p:txBody>
          <a:bodyPr/>
          <a:lstStyle/>
          <a:p>
            <a:r>
              <a:rPr lang="en-US" sz="3600" dirty="0">
                <a:latin typeface="Arial Black" panose="020B0A04020102020204" pitchFamily="34" charset="0"/>
              </a:rPr>
              <a:t>ANALYSIS: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DE62F-4EF2-02D0-DBDC-02E4D3D10A45}"/>
              </a:ext>
            </a:extLst>
          </p:cNvPr>
          <p:cNvSpPr/>
          <p:nvPr/>
        </p:nvSpPr>
        <p:spPr>
          <a:xfrm>
            <a:off x="662150" y="1734550"/>
            <a:ext cx="4556235" cy="231753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B66296-CB2E-234C-27C7-5DF3687E25D7}"/>
              </a:ext>
            </a:extLst>
          </p:cNvPr>
          <p:cNvSpPr/>
          <p:nvPr/>
        </p:nvSpPr>
        <p:spPr>
          <a:xfrm>
            <a:off x="7220606" y="4335517"/>
            <a:ext cx="4477407" cy="238059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F295A-7FAD-EE8E-FE41-8233AA707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52" y="1778077"/>
            <a:ext cx="4422229" cy="2230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B1FBFF-EC36-E2E5-0388-992D0E6B4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516" y="4379857"/>
            <a:ext cx="4393585" cy="2291911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078612A4-9CED-A180-D346-327504EB6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654" y="1990117"/>
            <a:ext cx="616444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chart shows that orders with faster shipping times tend to receive higher review scores,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57,019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5-star reviews. As delivery time increases, review scores drop, indicating a strong link between prompt delivery and customer satisfaction.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A80E088-D145-A113-42CC-BF453BDBC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71" y="4556149"/>
            <a:ext cx="582798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chart shows that higher review scores are associated with a greater number of orders, especially for score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57,019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shipments. This suggests that timely or satisfactory deliveries likely contribute to better customer reviews.</a:t>
            </a:r>
          </a:p>
        </p:txBody>
      </p:sp>
    </p:spTree>
    <p:extLst>
      <p:ext uri="{BB962C8B-B14F-4D97-AF65-F5344CB8AC3E}">
        <p14:creationId xmlns:p14="http://schemas.microsoft.com/office/powerpoint/2010/main" val="235484758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1746E3-F975-DD09-F0D4-BA4777E7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731724"/>
          </a:xfrm>
        </p:spPr>
        <p:txBody>
          <a:bodyPr/>
          <a:lstStyle/>
          <a:p>
            <a:r>
              <a:rPr lang="en-US" sz="3600" dirty="0">
                <a:latin typeface="Arial Black" panose="020B0A04020102020204" pitchFamily="34" charset="0"/>
              </a:rPr>
              <a:t>ANALYSIS: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CA2CE3-B9D3-1C3A-AEC3-DF367C1628B7}"/>
              </a:ext>
            </a:extLst>
          </p:cNvPr>
          <p:cNvSpPr/>
          <p:nvPr/>
        </p:nvSpPr>
        <p:spPr>
          <a:xfrm>
            <a:off x="898634" y="1576551"/>
            <a:ext cx="4556235" cy="231753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387EF4-192D-E6D2-5B87-24636264B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51" y="1639789"/>
            <a:ext cx="4474600" cy="21910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6D5C79-FE3F-70AE-4CF8-AE5B7242815A}"/>
              </a:ext>
            </a:extLst>
          </p:cNvPr>
          <p:cNvSpPr/>
          <p:nvPr/>
        </p:nvSpPr>
        <p:spPr>
          <a:xfrm>
            <a:off x="837608" y="4508938"/>
            <a:ext cx="1755316" cy="961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72672-668C-96DA-8A04-17DCD9D304FB}"/>
              </a:ext>
            </a:extLst>
          </p:cNvPr>
          <p:cNvSpPr/>
          <p:nvPr/>
        </p:nvSpPr>
        <p:spPr>
          <a:xfrm>
            <a:off x="2592924" y="5636172"/>
            <a:ext cx="1868717" cy="961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85530C-95F8-14C2-BF3B-A6A116E9EFA8}"/>
              </a:ext>
            </a:extLst>
          </p:cNvPr>
          <p:cNvSpPr/>
          <p:nvPr/>
        </p:nvSpPr>
        <p:spPr>
          <a:xfrm>
            <a:off x="4325676" y="4412424"/>
            <a:ext cx="1890423" cy="10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FC5103-440F-56FC-0420-F4F898656F12}"/>
              </a:ext>
            </a:extLst>
          </p:cNvPr>
          <p:cNvSpPr/>
          <p:nvPr/>
        </p:nvSpPr>
        <p:spPr>
          <a:xfrm>
            <a:off x="6096000" y="5539659"/>
            <a:ext cx="1890423" cy="10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4F5055-5A66-14E9-B236-CE07C37B1EA9}"/>
              </a:ext>
            </a:extLst>
          </p:cNvPr>
          <p:cNvSpPr/>
          <p:nvPr/>
        </p:nvSpPr>
        <p:spPr>
          <a:xfrm>
            <a:off x="8137518" y="4508937"/>
            <a:ext cx="1681106" cy="961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BEAB8-396A-2B37-D749-26B9438C0646}"/>
              </a:ext>
            </a:extLst>
          </p:cNvPr>
          <p:cNvSpPr/>
          <p:nvPr/>
        </p:nvSpPr>
        <p:spPr>
          <a:xfrm>
            <a:off x="10042634" y="5470633"/>
            <a:ext cx="1860332" cy="1127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1C319D-CDC0-8F8F-8723-31B3A82B6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07" y="4579100"/>
            <a:ext cx="1682517" cy="821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C2030D-1064-6FC6-74F0-F24EDC27C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657" y="5673028"/>
            <a:ext cx="1797250" cy="8879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0DE25B-C8CF-8F4A-C933-2D7D06D07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1488" y="5539659"/>
            <a:ext cx="1722624" cy="9891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F8291D-2FA4-302C-2AD6-09739514D6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682" y="4544018"/>
            <a:ext cx="1598778" cy="8915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11DDD2-D57A-A987-4AAA-41783FBA7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9384" y="5598300"/>
            <a:ext cx="1778766" cy="9409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D30E684-1330-CC43-2BB2-CDB6DE09B6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0649" y="4447506"/>
            <a:ext cx="1800476" cy="988044"/>
          </a:xfrm>
          <a:prstGeom prst="rect">
            <a:avLst/>
          </a:prstGeom>
        </p:spPr>
      </p:pic>
      <p:sp>
        <p:nvSpPr>
          <p:cNvPr id="26" name="Rectangle 1">
            <a:extLst>
              <a:ext uri="{FF2B5EF4-FFF2-40B4-BE49-F238E27FC236}">
                <a16:creationId xmlns:a16="http://schemas.microsoft.com/office/drawing/2014/main" id="{02200CAE-EFC8-C72E-F5A1-FCD7CF951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810" y="1797231"/>
            <a:ext cx="600892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chart shows that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beleza_saude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(beauty and health)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is the most ordered product category, followed by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informatica_acessorios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utilidades_domesticas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. This indicates strong customer demand for personal care, tech accessories, and household items.</a:t>
            </a:r>
          </a:p>
        </p:txBody>
      </p:sp>
    </p:spTree>
    <p:extLst>
      <p:ext uri="{BB962C8B-B14F-4D97-AF65-F5344CB8AC3E}">
        <p14:creationId xmlns:p14="http://schemas.microsoft.com/office/powerpoint/2010/main" val="337473140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9B26-1ED9-3AE1-22F9-F978AD618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332" y="624110"/>
            <a:ext cx="9644280" cy="79478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REPORT: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28FF7-15BE-6F84-2FC8-CB692A873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72" y="1418898"/>
            <a:ext cx="10465695" cy="51553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65AEA9-8D6A-C27B-1058-49ABEFF469A3}"/>
              </a:ext>
            </a:extLst>
          </p:cNvPr>
          <p:cNvSpPr/>
          <p:nvPr/>
        </p:nvSpPr>
        <p:spPr>
          <a:xfrm>
            <a:off x="1292772" y="1418897"/>
            <a:ext cx="10465695" cy="5155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44794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BAE5-B21B-7C35-E42F-323BCDA1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492" y="485067"/>
            <a:ext cx="8679767" cy="934024"/>
          </a:xfrm>
        </p:spPr>
        <p:txBody>
          <a:bodyPr/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1B4E6">
                    <a:lumMod val="75000"/>
                  </a:srgb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Power BI Report: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1B4E6">
                    <a:lumMod val="75000"/>
                  </a:srgb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Olist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1B4E6">
                    <a:lumMod val="75000"/>
                  </a:srgb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 Sales &amp; Customer Trends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00F201E-6C1E-D02D-CF7A-00A96A4F5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852" y="1419091"/>
            <a:ext cx="9228407" cy="4953842"/>
          </a:xfrm>
        </p:spPr>
      </p:pic>
    </p:spTree>
    <p:extLst>
      <p:ext uri="{BB962C8B-B14F-4D97-AF65-F5344CB8AC3E}">
        <p14:creationId xmlns:p14="http://schemas.microsoft.com/office/powerpoint/2010/main" val="12852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0BA243-7A45-5552-4DFD-B8E9809548FA}"/>
              </a:ext>
            </a:extLst>
          </p:cNvPr>
          <p:cNvSpPr txBox="1"/>
          <p:nvPr/>
        </p:nvSpPr>
        <p:spPr>
          <a:xfrm>
            <a:off x="2064433" y="228580"/>
            <a:ext cx="96117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💰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Revenue Trends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Achieved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total revenue of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13.59M BRL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with strong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performance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May, July, and April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 noticeable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dip in September and October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suggests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possible seasonal or operational challenges.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✅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Opportunity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Launch targeted campaigns during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off-peak months to stabilize revenue flow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D4F3A-688F-E1BD-1814-485F22CCF63D}"/>
              </a:ext>
            </a:extLst>
          </p:cNvPr>
          <p:cNvSpPr txBox="1"/>
          <p:nvPr/>
        </p:nvSpPr>
        <p:spPr>
          <a:xfrm>
            <a:off x="2064433" y="2536904"/>
            <a:ext cx="96117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🚚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Freight Cost Insights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Total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freight spend stands at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2.25M BRL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2018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marked a major increase, followed by stable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freight values through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2020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✅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Recommendation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 Assess shipping efficiency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and renegotiate carrier contracts to optimize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costs.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009B3-EC3C-EDB7-2E50-FD1BABFA35B0}"/>
              </a:ext>
            </a:extLst>
          </p:cNvPr>
          <p:cNvSpPr txBox="1"/>
          <p:nvPr/>
        </p:nvSpPr>
        <p:spPr>
          <a:xfrm>
            <a:off x="2064433" y="4921508"/>
            <a:ext cx="806313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📦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Order &amp; Payment Behavior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96K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total orders, with over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55%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completed via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single installment payments.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✅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Insight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 Customers prefer straightforward transactions — consider reinforcing this with incentives for one-time payments.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84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4E8A24-5B7B-DA97-E331-3B9DFFCBE06C}"/>
              </a:ext>
            </a:extLst>
          </p:cNvPr>
          <p:cNvSpPr txBox="1"/>
          <p:nvPr/>
        </p:nvSpPr>
        <p:spPr>
          <a:xfrm>
            <a:off x="1712153" y="293489"/>
            <a:ext cx="99452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🏷️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Top-Selling Categories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Leading revenue generators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   Watches </a:t>
            </a: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(1.2M BRL)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   Sports &amp; Leisure </a:t>
            </a: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(988K BRL)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   Toys </a:t>
            </a: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(484K BRL)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prstClr val="black"/>
                </a:solidFill>
                <a:latin typeface="Century Gothic" panose="020B0502020202020204"/>
              </a:rPr>
              <a:t>     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categories like Security and Tablets lag behind.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✅ Strategy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 Double down on high performers and reevaluate or reposition low-value categories.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84973-ACAB-F9EE-53EF-7A51C23A8D82}"/>
              </a:ext>
            </a:extLst>
          </p:cNvPr>
          <p:cNvSpPr txBox="1"/>
          <p:nvPr/>
        </p:nvSpPr>
        <p:spPr>
          <a:xfrm>
            <a:off x="1712153" y="2971145"/>
            <a:ext cx="1032979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📈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Average Order Value (AOV) Patterns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AOV peaks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May, July,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August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but drops in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October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November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✅ Action Plan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 Introduce bundled offers or upsells in lower-AOV months to boost per-order value.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7038B-AE97-38A2-4E01-AD390AC4F4EF}"/>
              </a:ext>
            </a:extLst>
          </p:cNvPr>
          <p:cNvSpPr txBox="1"/>
          <p:nvPr/>
        </p:nvSpPr>
        <p:spPr>
          <a:xfrm>
            <a:off x="1712153" y="4810185"/>
            <a:ext cx="971081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📊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Revenue Performance at a Glance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The gauge reveals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total revenue of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13.59M BRL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reaching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50% of the projected maximum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(27.18MBRL)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While this reflects a solid base, it also highlights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untapped revenue potential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467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356B-89DD-7C26-5A58-62CF2FB9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184121" cy="684185"/>
          </a:xfrm>
        </p:spPr>
        <p:txBody>
          <a:bodyPr>
            <a:norm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1B4E6">
                    <a:lumMod val="75000"/>
                  </a:srgb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Olist Store Business Pulse – A Tableau Overview</a:t>
            </a:r>
            <a:endParaRPr lang="en-IN" sz="24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14097CD-B1ED-758C-0928-643428297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54611"/>
            <a:ext cx="9291372" cy="4879279"/>
          </a:xfrm>
        </p:spPr>
      </p:pic>
    </p:spTree>
    <p:extLst>
      <p:ext uri="{BB962C8B-B14F-4D97-AF65-F5344CB8AC3E}">
        <p14:creationId xmlns:p14="http://schemas.microsoft.com/office/powerpoint/2010/main" val="3995701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6D1B5-9923-0C10-284A-8D62B2B2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5D8392-A2A8-17E6-A167-43CBC1A0F5E9}"/>
              </a:ext>
            </a:extLst>
          </p:cNvPr>
          <p:cNvSpPr txBox="1"/>
          <p:nvPr/>
        </p:nvSpPr>
        <p:spPr>
          <a:xfrm>
            <a:off x="1839349" y="372293"/>
            <a:ext cx="796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599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🛍️ Category Insights – What Sells vs. What’s Popular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265991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24099-5332-1811-BC23-7DC2A22F62C1}"/>
              </a:ext>
            </a:extLst>
          </p:cNvPr>
          <p:cNvSpPr txBox="1"/>
          <p:nvPr/>
        </p:nvSpPr>
        <p:spPr>
          <a:xfrm>
            <a:off x="1839349" y="1058503"/>
            <a:ext cx="47583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🥇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Top Revenue Categories: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🧴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Health &amp; Beauty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$1.4M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⌚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Watches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$1.3M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🛏️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Bed &amp; Bath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– $1.2M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10FA4-4AED-BF13-E1E4-187BD524785A}"/>
              </a:ext>
            </a:extLst>
          </p:cNvPr>
          <p:cNvSpPr txBox="1"/>
          <p:nvPr/>
        </p:nvSpPr>
        <p:spPr>
          <a:xfrm>
            <a:off x="6597746" y="1058503"/>
            <a:ext cx="52472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📦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Top Order Volume: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🛏️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Bed &amp; Bath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9.4K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🧴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Health &amp; Beauty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8.8K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🪑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Furniture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6.7K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3F58D-834D-8FD6-8699-0157D53758D7}"/>
              </a:ext>
            </a:extLst>
          </p:cNvPr>
          <p:cNvSpPr txBox="1"/>
          <p:nvPr/>
        </p:nvSpPr>
        <p:spPr>
          <a:xfrm>
            <a:off x="1839349" y="2736502"/>
            <a:ext cx="8528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🔍 Insight: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"Some categories like Watches punch above their weight – fewer orders, higher revenue. Premium play at work.“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CA4569-E02C-A80C-E822-711777ED72FF}"/>
              </a:ext>
            </a:extLst>
          </p:cNvPr>
          <p:cNvSpPr txBox="1"/>
          <p:nvPr/>
        </p:nvSpPr>
        <p:spPr>
          <a:xfrm>
            <a:off x="1839349" y="3934123"/>
            <a:ext cx="1035265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💳 Payment Preferences – What Customers Choose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Headline: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💡 Credit cards dominate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— simplicity and trust lead the way.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Breakdown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Credit Card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– Primary method (most customers)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Boleto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Secondary but far behind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Others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Minimal usage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🧠 Narrative Tip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:"Encouraging alternate payment modes (like instant pay or wallet integrations) could broaden appeal."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23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B8B3-2670-88CB-AF73-0A4702EA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20CCB9-58FE-59CD-641A-ED00F47B1ED1}"/>
              </a:ext>
            </a:extLst>
          </p:cNvPr>
          <p:cNvSpPr txBox="1"/>
          <p:nvPr/>
        </p:nvSpPr>
        <p:spPr>
          <a:xfrm>
            <a:off x="1529861" y="314090"/>
            <a:ext cx="1024479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🚨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Late Deliveries – Operational Pressure Points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Headline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🚧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IN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Delivery delays spiked alongside order volume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📦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August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had the highest late deliveries </a:t>
            </a: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(11.6K)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– matching the order peak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📉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Delays dropped sharply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post-August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— likely due to fewer orders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💡 Insight Box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Late delivery patterns clearly mirror volume surges. Strategic logistics scaling is key during high-demand periods.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772CF-BD2A-6C68-F06F-E79097968C9D}"/>
              </a:ext>
            </a:extLst>
          </p:cNvPr>
          <p:cNvSpPr txBox="1"/>
          <p:nvPr/>
        </p:nvSpPr>
        <p:spPr>
          <a:xfrm>
            <a:off x="1529862" y="3056285"/>
            <a:ext cx="10413610" cy="3668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📈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Orders Over Time – Volume Trends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Headline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📉 Order flow reveals strong early-year growth and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Q4 recovery.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Key Patterns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Growth from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Jan,–Aug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peaking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August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❗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Sharp drop in September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possibly due to operational or promotional slowdown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🔄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Recovery in Oct–Dec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suggests strong seasonal resilience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🧠 Narrative Tip for Presenting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"While Q3 took a dip, Q4 rebounded impressively — a great indicator of brand loyalty and recovery agility."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05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C20C6-0AC3-B270-0713-756F92361CB7}"/>
              </a:ext>
            </a:extLst>
          </p:cNvPr>
          <p:cNvSpPr txBox="1"/>
          <p:nvPr/>
        </p:nvSpPr>
        <p:spPr>
          <a:xfrm>
            <a:off x="1698673" y="680796"/>
            <a:ext cx="60983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1B4E6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CONCLUSION: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38A85-23C4-8B6F-BDE5-FF722B953551}"/>
              </a:ext>
            </a:extLst>
          </p:cNvPr>
          <p:cNvSpPr txBox="1"/>
          <p:nvPr/>
        </p:nvSpPr>
        <p:spPr>
          <a:xfrm>
            <a:off x="1698673" y="1450237"/>
            <a:ext cx="8978705" cy="472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📌 Strategic Recommendations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1. Scale Logistics: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Invest in fulfillment agility during peak months to reduce delivery delays.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2. Optimize Category Mix: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Shift budget toward premium, high-conversion categories for better margins.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3. Payment Innovation: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Introduce payment incentives or one-click checkout to reduce friction.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4. Seasonal Preparedness: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 campaigns around Q3 to maintain momentum and avoid dips like September.</a:t>
            </a:r>
          </a:p>
        </p:txBody>
      </p:sp>
    </p:spTree>
    <p:extLst>
      <p:ext uri="{BB962C8B-B14F-4D97-AF65-F5344CB8AC3E}">
        <p14:creationId xmlns:p14="http://schemas.microsoft.com/office/powerpoint/2010/main" val="1311344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65B44D-A806-24DA-086A-C11C0346F4A5}"/>
              </a:ext>
            </a:extLst>
          </p:cNvPr>
          <p:cNvSpPr txBox="1"/>
          <p:nvPr/>
        </p:nvSpPr>
        <p:spPr>
          <a:xfrm>
            <a:off x="2049517" y="2601311"/>
            <a:ext cx="8534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0000FF"/>
                </a:solidFill>
                <a:latin typeface="Arial Black" panose="020B0A04020102020204" pitchFamily="34" charset="0"/>
              </a:rPr>
              <a:t>THANK YOU </a:t>
            </a:r>
            <a:r>
              <a:rPr lang="en-US" sz="8000" dirty="0">
                <a:solidFill>
                  <a:srgbClr val="0000FF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</a:t>
            </a:r>
            <a:endParaRPr lang="en-IN" sz="800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8110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193</TotalTime>
  <Words>1252</Words>
  <Application>Microsoft Office PowerPoint</Application>
  <PresentationFormat>Widescreen</PresentationFormat>
  <Paragraphs>124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 Narrow</vt:lpstr>
      <vt:lpstr>Arial</vt:lpstr>
      <vt:lpstr>Arial Black</vt:lpstr>
      <vt:lpstr>Century Gothic</vt:lpstr>
      <vt:lpstr>Wingdings</vt:lpstr>
      <vt:lpstr>Wingdings 3</vt:lpstr>
      <vt:lpstr>Wisp</vt:lpstr>
      <vt:lpstr>ECOMMERCE OLIST STORE ANALYSIS</vt:lpstr>
      <vt:lpstr>INTRODUCTION:</vt:lpstr>
      <vt:lpstr>DATA OVERVIEW:</vt:lpstr>
      <vt:lpstr>OBJECTIVES-KPIS:</vt:lpstr>
      <vt:lpstr>PROCESS:</vt:lpstr>
      <vt:lpstr>ANALYSIS:</vt:lpstr>
      <vt:lpstr>ANALYSIS:</vt:lpstr>
      <vt:lpstr>ANALYSIS:</vt:lpstr>
      <vt:lpstr>ANALYSIS:</vt:lpstr>
      <vt:lpstr>REPORT:</vt:lpstr>
      <vt:lpstr>Power BI Report: Olist Sales &amp; Customer Trends</vt:lpstr>
      <vt:lpstr>PowerPoint Presentation</vt:lpstr>
      <vt:lpstr>PowerPoint Presentation</vt:lpstr>
      <vt:lpstr>Olist Store Business Pulse – A Tableau Overview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madhumalapur035@gmail.com</dc:creator>
  <cp:lastModifiedBy>Andrajula Gurusaipavan</cp:lastModifiedBy>
  <cp:revision>4</cp:revision>
  <dcterms:created xsi:type="dcterms:W3CDTF">2025-05-20T16:42:22Z</dcterms:created>
  <dcterms:modified xsi:type="dcterms:W3CDTF">2025-05-23T06:42:11Z</dcterms:modified>
</cp:coreProperties>
</file>